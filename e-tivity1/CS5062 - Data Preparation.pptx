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0" r:id="rId1"/>
  </p:sldMasterIdLst>
  <p:sldIdLst>
    <p:sldId id="266" r:id="rId2"/>
    <p:sldId id="257" r:id="rId3"/>
    <p:sldId id="269" r:id="rId4"/>
    <p:sldId id="270" r:id="rId5"/>
    <p:sldId id="271" r:id="rId6"/>
    <p:sldId id="287" r:id="rId7"/>
    <p:sldId id="273" r:id="rId8"/>
    <p:sldId id="277" r:id="rId9"/>
    <p:sldId id="279" r:id="rId10"/>
    <p:sldId id="276" r:id="rId11"/>
    <p:sldId id="281" r:id="rId12"/>
    <p:sldId id="278" r:id="rId13"/>
    <p:sldId id="282" r:id="rId14"/>
    <p:sldId id="284" r:id="rId15"/>
    <p:sldId id="283" r:id="rId16"/>
    <p:sldId id="285" r:id="rId17"/>
    <p:sldId id="286" r:id="rId18"/>
    <p:sldId id="28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.Nikolov" userId="b28fb1a3-6f3a-4286-901a-788c5e65a381" providerId="ADAL" clId="{1BCF433B-B937-410E-9730-19BF52C26B6B}"/>
    <pc:docChg chg="modSld">
      <pc:chgData name="Nikola.Nikolov" userId="b28fb1a3-6f3a-4286-901a-788c5e65a381" providerId="ADAL" clId="{1BCF433B-B937-410E-9730-19BF52C26B6B}" dt="2025-03-10T01:35:42.175" v="12" actId="20577"/>
      <pc:docMkLst>
        <pc:docMk/>
      </pc:docMkLst>
      <pc:sldChg chg="modSp mod">
        <pc:chgData name="Nikola.Nikolov" userId="b28fb1a3-6f3a-4286-901a-788c5e65a381" providerId="ADAL" clId="{1BCF433B-B937-410E-9730-19BF52C26B6B}" dt="2025-03-10T01:35:42.175" v="12" actId="20577"/>
        <pc:sldMkLst>
          <pc:docMk/>
          <pc:sldMk cId="0" sldId="266"/>
        </pc:sldMkLst>
        <pc:spChg chg="mod">
          <ac:chgData name="Nikola.Nikolov" userId="b28fb1a3-6f3a-4286-901a-788c5e65a381" providerId="ADAL" clId="{1BCF433B-B937-410E-9730-19BF52C26B6B}" dt="2025-03-10T01:35:39.007" v="11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Nikola.Nikolov" userId="b28fb1a3-6f3a-4286-901a-788c5e65a381" providerId="ADAL" clId="{1BCF433B-B937-410E-9730-19BF52C26B6B}" dt="2025-03-10T01:35:42.175" v="12" actId="20577"/>
          <ac:spMkLst>
            <pc:docMk/>
            <pc:sldMk cId="0" sldId="266"/>
            <ac:spMk id="3" creationId="{00000000-0000-0000-0000-000000000000}"/>
          </ac:spMkLst>
        </pc:spChg>
      </pc:sldChg>
    </pc:docChg>
  </pc:docChgLst>
  <pc:docChgLst>
    <pc:chgData name="Nikola.Nikolov" userId="b28fb1a3-6f3a-4286-901a-788c5e65a381" providerId="ADAL" clId="{E0C26409-3E1D-432B-9FE9-67A7C1DA66F2}"/>
    <pc:docChg chg="modSld">
      <pc:chgData name="Nikola.Nikolov" userId="b28fb1a3-6f3a-4286-901a-788c5e65a381" providerId="ADAL" clId="{E0C26409-3E1D-432B-9FE9-67A7C1DA66F2}" dt="2024-02-13T04:31:34.589" v="17" actId="20577"/>
      <pc:docMkLst>
        <pc:docMk/>
      </pc:docMkLst>
      <pc:sldChg chg="modSp mod">
        <pc:chgData name="Nikola.Nikolov" userId="b28fb1a3-6f3a-4286-901a-788c5e65a381" providerId="ADAL" clId="{E0C26409-3E1D-432B-9FE9-67A7C1DA66F2}" dt="2024-02-13T04:31:34.589" v="17" actId="20577"/>
        <pc:sldMkLst>
          <pc:docMk/>
          <pc:sldMk cId="3108853550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E47CA-1B3D-482F-B760-4BBCEDB87854}" type="datetimeFigureOut">
              <a:rPr lang="en-IE" smtClean="0"/>
              <a:pPr/>
              <a:t>18/01/2026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291CE-BFCC-4713-A0A0-8037E2820858}" type="slidenum">
              <a:rPr lang="en-IE" smtClean="0"/>
              <a:pPr/>
              <a:t>‹#›</a:t>
            </a:fld>
            <a:endParaRPr lang="en-I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/>
          <a:lstStyle/>
          <a:p>
            <a:r>
              <a:rPr lang="en-IE" dirty="0"/>
              <a:t>Data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Also known as:</a:t>
            </a:r>
          </a:p>
          <a:p>
            <a:pPr lvl="1"/>
            <a:r>
              <a:rPr lang="en-GB" dirty="0"/>
              <a:t>Data </a:t>
            </a:r>
            <a:r>
              <a:rPr lang="en-GB" dirty="0" err="1"/>
              <a:t>Preprocessing</a:t>
            </a:r>
            <a:endParaRPr lang="en-GB" dirty="0"/>
          </a:p>
          <a:p>
            <a:pPr lvl="1"/>
            <a:r>
              <a:rPr lang="en-GB" dirty="0"/>
              <a:t>Data Wrangling</a:t>
            </a:r>
          </a:p>
          <a:p>
            <a:pPr lvl="1"/>
            <a:r>
              <a:rPr lang="en-GB" dirty="0"/>
              <a:t>Data Munging</a:t>
            </a:r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Treat missing values</a:t>
            </a:r>
          </a:p>
          <a:p>
            <a:r>
              <a:rPr lang="en-GB" dirty="0"/>
              <a:t>Treat outliers</a:t>
            </a:r>
          </a:p>
          <a:p>
            <a:r>
              <a:rPr lang="en-GB" dirty="0"/>
              <a:t>Feature engineering</a:t>
            </a:r>
          </a:p>
          <a:p>
            <a:pPr lvl="1"/>
            <a:r>
              <a:rPr lang="en-GB" dirty="0"/>
              <a:t>Transform existing features</a:t>
            </a:r>
          </a:p>
          <a:p>
            <a:pPr lvl="1"/>
            <a:r>
              <a:rPr lang="en-GB" dirty="0"/>
              <a:t>Add new features (</a:t>
            </a:r>
            <a:r>
              <a:rPr lang="en-GB" i="1" dirty="0"/>
              <a:t>extracted</a:t>
            </a:r>
            <a:r>
              <a:rPr lang="en-GB" dirty="0"/>
              <a:t> from existing features)</a:t>
            </a:r>
          </a:p>
        </p:txBody>
      </p:sp>
    </p:spTree>
    <p:extLst>
      <p:ext uri="{BB962C8B-B14F-4D97-AF65-F5344CB8AC3E}">
        <p14:creationId xmlns:p14="http://schemas.microsoft.com/office/powerpoint/2010/main" val="161446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1726-0DA9-48B6-ABA2-49C92A99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Missing Values in Numerical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EA30-8600-4994-AB51-95373531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Most ML algorithms cannot deal well with missing values!</a:t>
            </a:r>
          </a:p>
          <a:p>
            <a:pPr lvl="1"/>
            <a:r>
              <a:rPr lang="en-GB" dirty="0"/>
              <a:t>Delete column/examples with missing values</a:t>
            </a:r>
          </a:p>
          <a:p>
            <a:pPr lvl="1"/>
            <a:r>
              <a:rPr lang="en-GB" dirty="0"/>
              <a:t>Impute (i.e. fill in) missing values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294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1726-0DA9-48B6-ABA2-49C92A99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Types of Missing Values (Rubin, 1976)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EA30-8600-4994-AB51-95373531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MCAR (Missing Completely At Random)</a:t>
            </a:r>
          </a:p>
          <a:p>
            <a:pPr lvl="1"/>
            <a:r>
              <a:rPr lang="en-GB" dirty="0"/>
              <a:t>The probability that a value is missing is independent of both observed and unobserved data.</a:t>
            </a:r>
          </a:p>
          <a:p>
            <a:pPr lvl="1"/>
            <a:r>
              <a:rPr lang="en-GB" dirty="0"/>
              <a:t>Missingness is entirely random; the observed data are a simple random sample of the full data.</a:t>
            </a:r>
          </a:p>
          <a:p>
            <a:r>
              <a:rPr lang="en-GB" dirty="0"/>
              <a:t>MAR (Missing At Random)</a:t>
            </a:r>
          </a:p>
          <a:p>
            <a:pPr lvl="1"/>
            <a:r>
              <a:rPr lang="en-GB" dirty="0"/>
              <a:t>The probability that a value is missing may depend on observed data, but not on the missing (unobserved) value itself, once the observed data are conditioned on.</a:t>
            </a:r>
          </a:p>
          <a:p>
            <a:pPr lvl="1"/>
            <a:r>
              <a:rPr lang="en-GB" dirty="0"/>
              <a:t>Missingness can be fully explained by variables that are observed.</a:t>
            </a:r>
          </a:p>
          <a:p>
            <a:r>
              <a:rPr lang="en-GB" dirty="0"/>
              <a:t>MNAR (Missing Not At Random)</a:t>
            </a:r>
          </a:p>
          <a:p>
            <a:pPr lvl="1"/>
            <a:r>
              <a:rPr lang="en-GB" dirty="0"/>
              <a:t>The probability that a value is missing depends on the unobserved (missing) value itself, even after conditioning on observed data.</a:t>
            </a:r>
          </a:p>
          <a:p>
            <a:pPr lvl="1"/>
            <a:r>
              <a:rPr lang="en-GB" dirty="0"/>
              <a:t>The missingness mechanism cannot be ignored and must be modelled explicitly.</a:t>
            </a:r>
          </a:p>
        </p:txBody>
      </p:sp>
    </p:spTree>
    <p:extLst>
      <p:ext uri="{BB962C8B-B14F-4D97-AF65-F5344CB8AC3E}">
        <p14:creationId xmlns:p14="http://schemas.microsoft.com/office/powerpoint/2010/main" val="344530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FE139-5E79-1319-3CDF-E0831DB7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D416-4917-269D-3A12-5DD31586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Types of Missing Values (Rubin, 1976)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575FC-F855-FF8D-EA44-F0A7BB147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MCAR (Missing Completely At Random)</a:t>
            </a:r>
          </a:p>
          <a:p>
            <a:pPr lvl="1"/>
            <a:r>
              <a:rPr lang="en-GB" dirty="0"/>
              <a:t>Example: A survey response is missing because a questionnaire page was accidentally lost during data entry.</a:t>
            </a:r>
          </a:p>
          <a:p>
            <a:r>
              <a:rPr lang="en-GB" dirty="0"/>
              <a:t>MAR (Missing At Random)</a:t>
            </a:r>
          </a:p>
          <a:p>
            <a:pPr lvl="1"/>
            <a:r>
              <a:rPr lang="en-GB" dirty="0"/>
              <a:t>Example: Income is missing more often for younger respondents, but within each age group the missingness does not depend on the income itself.</a:t>
            </a:r>
          </a:p>
          <a:p>
            <a:r>
              <a:rPr lang="en-GB" dirty="0"/>
              <a:t>MNAR (Missing Not At Random)</a:t>
            </a:r>
          </a:p>
          <a:p>
            <a:pPr lvl="1"/>
            <a:r>
              <a:rPr lang="en-GB" dirty="0"/>
              <a:t>Example: Individuals with very high or very low incomes are less likely to report their income, and this reluctance depends on the income value itself.</a:t>
            </a:r>
          </a:p>
        </p:txBody>
      </p:sp>
    </p:spTree>
    <p:extLst>
      <p:ext uri="{BB962C8B-B14F-4D97-AF65-F5344CB8AC3E}">
        <p14:creationId xmlns:p14="http://schemas.microsoft.com/office/powerpoint/2010/main" val="1990125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13BE-FA7D-466D-B32A-23BD86FB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91806-1314-4CC4-AA04-C610D5650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more than 25-30% values are missing in a column then drop the column.</a:t>
            </a:r>
          </a:p>
          <a:p>
            <a:pPr lvl="1"/>
            <a:r>
              <a:rPr lang="en-GB" dirty="0"/>
              <a:t>Cons: information loss</a:t>
            </a:r>
          </a:p>
          <a:p>
            <a:endParaRPr lang="en-GB" dirty="0"/>
          </a:p>
          <a:p>
            <a:r>
              <a:rPr lang="en-GB" dirty="0"/>
              <a:t>Delete examples/rows with missing values</a:t>
            </a:r>
          </a:p>
          <a:p>
            <a:pPr lvl="1"/>
            <a:r>
              <a:rPr lang="en-GB" dirty="0"/>
              <a:t>Cons:</a:t>
            </a:r>
          </a:p>
          <a:p>
            <a:pPr lvl="2"/>
            <a:r>
              <a:rPr lang="en-GB" dirty="0"/>
              <a:t>information loss </a:t>
            </a:r>
          </a:p>
          <a:p>
            <a:pPr lvl="2"/>
            <a:r>
              <a:rPr lang="en-GB" dirty="0"/>
              <a:t>may introduce bias if not MCAR</a:t>
            </a:r>
          </a:p>
        </p:txBody>
      </p:sp>
    </p:spTree>
    <p:extLst>
      <p:ext uri="{BB962C8B-B14F-4D97-AF65-F5344CB8AC3E}">
        <p14:creationId xmlns:p14="http://schemas.microsoft.com/office/powerpoint/2010/main" val="242764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13BE-FA7D-466D-B32A-23BD86FB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Treating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91806-1314-4CC4-AA04-C610D5650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Impute missing values</a:t>
            </a:r>
          </a:p>
          <a:p>
            <a:pPr lvl="1"/>
            <a:r>
              <a:rPr lang="en-GB" dirty="0"/>
              <a:t>Simple method: use mean, median, most frequent, constant</a:t>
            </a:r>
          </a:p>
          <a:p>
            <a:pPr lvl="1"/>
            <a:r>
              <a:rPr lang="en-GB" dirty="0"/>
              <a:t>Better method: KNN (K-Nearest Neighbour)</a:t>
            </a:r>
          </a:p>
        </p:txBody>
      </p:sp>
    </p:spTree>
    <p:extLst>
      <p:ext uri="{BB962C8B-B14F-4D97-AF65-F5344CB8AC3E}">
        <p14:creationId xmlns:p14="http://schemas.microsoft.com/office/powerpoint/2010/main" val="3047835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0D279-3D47-4D51-B2DA-BD5E8967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410B0-0857-47BC-AF9C-F47D1117E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Drop rows with outliers</a:t>
            </a:r>
          </a:p>
          <a:p>
            <a:pPr lvl="1"/>
            <a:r>
              <a:rPr lang="en-GB" dirty="0"/>
              <a:t>Cons: information loss</a:t>
            </a:r>
          </a:p>
          <a:p>
            <a:r>
              <a:rPr lang="en-GB" dirty="0"/>
              <a:t>Add a new binary feature to mark outliers</a:t>
            </a:r>
          </a:p>
          <a:p>
            <a:r>
              <a:rPr lang="en-GB" dirty="0"/>
              <a:t>Transform</a:t>
            </a:r>
          </a:p>
          <a:p>
            <a:pPr lvl="1"/>
            <a:r>
              <a:rPr lang="en-GB" dirty="0"/>
              <a:t>Log transformation</a:t>
            </a:r>
          </a:p>
          <a:p>
            <a:pPr lvl="1"/>
            <a:r>
              <a:rPr lang="en-GB" dirty="0"/>
              <a:t>Cubic root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9963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99E6-3D9B-45A0-AA0C-A9DE8BEF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Encoding of Categorical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BC17-DFA3-4C4A-8DB7-09B904E0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Most ML algorithms require all data to be numerical.</a:t>
            </a:r>
          </a:p>
          <a:p>
            <a:r>
              <a:rPr lang="en-GB" dirty="0"/>
              <a:t>Two types of categorical features:</a:t>
            </a:r>
          </a:p>
          <a:p>
            <a:pPr lvl="1"/>
            <a:r>
              <a:rPr lang="en-GB" dirty="0"/>
              <a:t>Ordinal</a:t>
            </a:r>
          </a:p>
          <a:p>
            <a:pPr lvl="2"/>
            <a:r>
              <a:rPr lang="en-GB" dirty="0"/>
              <a:t>[‘low’, ‘medium’, ‘high’]</a:t>
            </a:r>
          </a:p>
          <a:p>
            <a:pPr lvl="2"/>
            <a:r>
              <a:rPr lang="en-GB" dirty="0"/>
              <a:t>Encoding: ‘low’: 0, ‘medium’: 1, ‘high’: 2</a:t>
            </a:r>
          </a:p>
          <a:p>
            <a:pPr lvl="1"/>
            <a:r>
              <a:rPr lang="en-GB" dirty="0"/>
              <a:t>Nominal</a:t>
            </a:r>
          </a:p>
          <a:p>
            <a:pPr lvl="2"/>
            <a:r>
              <a:rPr lang="en-GB" dirty="0"/>
              <a:t>[‘apple’, ‘banana’, ‘orange’]</a:t>
            </a:r>
          </a:p>
          <a:p>
            <a:pPr lvl="2"/>
            <a:r>
              <a:rPr lang="en-GB" dirty="0"/>
              <a:t>Solution: one-hot encoding</a:t>
            </a:r>
            <a:br>
              <a:rPr lang="en-GB" dirty="0"/>
            </a:br>
            <a:r>
              <a:rPr lang="en-GB" dirty="0"/>
              <a:t>(see </a:t>
            </a:r>
            <a:r>
              <a:rPr lang="en-GB" i="1" dirty="0"/>
              <a:t>Encoding of Categorical </a:t>
            </a:r>
            <a:r>
              <a:rPr lang="en-GB" i="1" dirty="0" err="1"/>
              <a:t>Features.ipynb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0970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99E6-3D9B-45A0-AA0C-A9DE8BEF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Encoding of Cyclical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BC17-DFA3-4C4A-8DB7-09B904E0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a sine and cosine transformations</a:t>
            </a:r>
          </a:p>
          <a:p>
            <a:r>
              <a:rPr lang="en-GB" dirty="0"/>
              <a:t>Example </a:t>
            </a:r>
            <a:r>
              <a:rPr lang="en-GB"/>
              <a:t>notebook:</a:t>
            </a:r>
            <a:br>
              <a:rPr lang="en-GB" dirty="0"/>
            </a:br>
            <a:r>
              <a:rPr lang="en-IE" i="1" dirty="0">
                <a:solidFill>
                  <a:srgbClr val="0070C0"/>
                </a:solidFill>
              </a:rPr>
              <a:t>How to Prepare Cyclical </a:t>
            </a:r>
            <a:r>
              <a:rPr lang="en-IE" i="1" dirty="0" err="1">
                <a:solidFill>
                  <a:srgbClr val="0070C0"/>
                </a:solidFill>
              </a:rPr>
              <a:t>Data.ipynb</a:t>
            </a:r>
            <a:endParaRPr lang="en-GB" sz="20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853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D169-B0F4-4654-9FDB-BCBFA077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Rescale Features and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C66EB-2FE2-423A-861C-4D8BB50A7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Many ML algorithms assume features are on the same scale.</a:t>
            </a:r>
          </a:p>
          <a:p>
            <a:r>
              <a:rPr lang="en-GB" dirty="0" err="1"/>
              <a:t>Scikit</a:t>
            </a:r>
            <a:r>
              <a:rPr lang="en-GB" dirty="0"/>
              <a:t>-learn Scalers:</a:t>
            </a:r>
          </a:p>
          <a:p>
            <a:pPr lvl="1"/>
            <a:r>
              <a:rPr lang="en-GB" dirty="0" err="1"/>
              <a:t>MinMaxScaler</a:t>
            </a:r>
            <a:endParaRPr lang="en-GB" dirty="0"/>
          </a:p>
          <a:p>
            <a:pPr lvl="1"/>
            <a:r>
              <a:rPr lang="en-GB" dirty="0" err="1"/>
              <a:t>RobustScaler</a:t>
            </a:r>
            <a:endParaRPr lang="en-GB" dirty="0"/>
          </a:p>
          <a:p>
            <a:pPr lvl="1"/>
            <a:r>
              <a:rPr lang="en-GB" dirty="0" err="1"/>
              <a:t>StandardScaler</a:t>
            </a:r>
            <a:endParaRPr lang="en-GB" dirty="0"/>
          </a:p>
          <a:p>
            <a:r>
              <a:rPr lang="en-GB" dirty="0"/>
              <a:t>Normalisation</a:t>
            </a:r>
          </a:p>
          <a:p>
            <a:pPr lvl="1"/>
            <a:r>
              <a:rPr lang="en-GB" dirty="0"/>
              <a:t>Normalise data rows (when many features have the same nature, e.g. word frequency in text mining)</a:t>
            </a:r>
          </a:p>
        </p:txBody>
      </p:sp>
    </p:spTree>
    <p:extLst>
      <p:ext uri="{BB962C8B-B14F-4D97-AF65-F5344CB8AC3E}">
        <p14:creationId xmlns:p14="http://schemas.microsoft.com/office/powerpoint/2010/main" val="1583933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C509-E567-43CC-A397-7D0D0A92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MinMaxScaler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7682-0E19-4E96-9DD7-B238A93D8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 err="1">
                <a:solidFill>
                  <a:srgbClr val="0070C0"/>
                </a:solidFill>
              </a:rPr>
              <a:t>MinMaxScaler</a:t>
            </a:r>
            <a:r>
              <a:rPr lang="en-GB" sz="2400" b="1" dirty="0">
                <a:solidFill>
                  <a:srgbClr val="0070C0"/>
                </a:solidFill>
              </a:rPr>
              <a:t>(</a:t>
            </a:r>
            <a:r>
              <a:rPr lang="en-GB" sz="2400" b="1" dirty="0" err="1">
                <a:solidFill>
                  <a:srgbClr val="0070C0"/>
                </a:solidFill>
              </a:rPr>
              <a:t>feature_range</a:t>
            </a:r>
            <a:r>
              <a:rPr lang="en-GB" sz="2400" b="1" dirty="0">
                <a:solidFill>
                  <a:srgbClr val="0070C0"/>
                </a:solidFill>
              </a:rPr>
              <a:t>=(0, 1), *, copy=True, clip=False)</a:t>
            </a:r>
          </a:p>
          <a:p>
            <a:endParaRPr lang="en-GB" sz="2800" dirty="0"/>
          </a:p>
          <a:p>
            <a:r>
              <a:rPr lang="en-GB" sz="2800" dirty="0"/>
              <a:t>Transforms a column by scaling it to a given range, typically [0..1]. </a:t>
            </a:r>
          </a:p>
          <a:p>
            <a:endParaRPr lang="en-GB" sz="2800" dirty="0"/>
          </a:p>
          <a:p>
            <a:r>
              <a:rPr lang="en-GB" sz="2800" dirty="0"/>
              <a:t>For each value x in the column: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70C0"/>
                </a:solidFill>
              </a:rPr>
              <a:t>z = (x - min) / (max - min)</a:t>
            </a:r>
            <a:endParaRPr lang="en-GB" sz="2800" dirty="0"/>
          </a:p>
          <a:p>
            <a:pPr marL="400050" lvl="1" indent="0">
              <a:buNone/>
            </a:pPr>
            <a:r>
              <a:rPr lang="en-GB" dirty="0"/>
              <a:t>where min and max are the minimum and the maximum values in the column,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3996836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C509-E567-43CC-A397-7D0D0A92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RobustScaler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7682-0E19-4E96-9DD7-B238A93D8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 err="1">
                <a:solidFill>
                  <a:srgbClr val="0070C0"/>
                </a:solidFill>
              </a:rPr>
              <a:t>RobustScaler</a:t>
            </a:r>
            <a:r>
              <a:rPr lang="en-GB" sz="2400" b="1" dirty="0">
                <a:solidFill>
                  <a:srgbClr val="0070C0"/>
                </a:solidFill>
              </a:rPr>
              <a:t>(*, </a:t>
            </a:r>
            <a:r>
              <a:rPr lang="en-GB" sz="2400" b="1" dirty="0" err="1">
                <a:solidFill>
                  <a:srgbClr val="0070C0"/>
                </a:solidFill>
              </a:rPr>
              <a:t>with_centering</a:t>
            </a:r>
            <a:r>
              <a:rPr lang="en-GB" sz="2400" b="1" dirty="0">
                <a:solidFill>
                  <a:srgbClr val="0070C0"/>
                </a:solidFill>
              </a:rPr>
              <a:t>=True, </a:t>
            </a:r>
            <a:r>
              <a:rPr lang="en-GB" sz="2400" b="1" dirty="0" err="1">
                <a:solidFill>
                  <a:srgbClr val="0070C0"/>
                </a:solidFill>
              </a:rPr>
              <a:t>with_scaling</a:t>
            </a:r>
            <a:r>
              <a:rPr lang="en-GB" sz="2400" b="1" dirty="0">
                <a:solidFill>
                  <a:srgbClr val="0070C0"/>
                </a:solidFill>
              </a:rPr>
              <a:t>=True, </a:t>
            </a:r>
            <a:r>
              <a:rPr lang="en-GB" sz="2400" b="1" dirty="0" err="1">
                <a:solidFill>
                  <a:srgbClr val="0070C0"/>
                </a:solidFill>
              </a:rPr>
              <a:t>quantile_range</a:t>
            </a:r>
            <a:r>
              <a:rPr lang="en-GB" sz="2400" b="1" dirty="0">
                <a:solidFill>
                  <a:srgbClr val="0070C0"/>
                </a:solidFill>
              </a:rPr>
              <a:t>=(25.0, 75.0), copy=True, </a:t>
            </a:r>
            <a:r>
              <a:rPr lang="en-GB" sz="2400" b="1" dirty="0" err="1">
                <a:solidFill>
                  <a:srgbClr val="0070C0"/>
                </a:solidFill>
              </a:rPr>
              <a:t>unit_variance</a:t>
            </a:r>
            <a:r>
              <a:rPr lang="en-GB" sz="2400" b="1" dirty="0">
                <a:solidFill>
                  <a:srgbClr val="0070C0"/>
                </a:solidFill>
              </a:rPr>
              <a:t>=False)</a:t>
            </a:r>
          </a:p>
          <a:p>
            <a:endParaRPr lang="en-GB" sz="2800" dirty="0"/>
          </a:p>
          <a:p>
            <a:r>
              <a:rPr lang="en-GB" sz="2400" dirty="0"/>
              <a:t>For each x in a column:</a:t>
            </a:r>
            <a:endParaRPr lang="en-GB" sz="2800" dirty="0"/>
          </a:p>
          <a:p>
            <a:pPr marL="400050" lvl="1" indent="0">
              <a:buNone/>
            </a:pPr>
            <a:r>
              <a:rPr lang="en-GB" sz="2400" b="1" dirty="0">
                <a:solidFill>
                  <a:srgbClr val="0070C0"/>
                </a:solidFill>
              </a:rPr>
              <a:t>z = (x - median)/IQR = (x - Q2)/(Q3 - Q1)</a:t>
            </a:r>
          </a:p>
          <a:p>
            <a:endParaRPr lang="en-GB" sz="2400" dirty="0"/>
          </a:p>
          <a:p>
            <a:r>
              <a:rPr lang="en-GB" sz="2400" dirty="0"/>
              <a:t>This Scaler removes the median and scales the data according to the quantile range (defaults to IQR: Interquartile Range).</a:t>
            </a:r>
          </a:p>
          <a:p>
            <a:r>
              <a:rPr lang="en-GB" sz="2400" dirty="0"/>
              <a:t>Use </a:t>
            </a:r>
            <a:r>
              <a:rPr lang="en-GB" sz="2400" dirty="0" err="1"/>
              <a:t>RobustScaler</a:t>
            </a:r>
            <a:r>
              <a:rPr lang="en-GB" sz="2400" dirty="0"/>
              <a:t> if you want to reduce the effects of outliers, relative to </a:t>
            </a:r>
            <a:r>
              <a:rPr lang="en-GB" sz="2400" dirty="0" err="1"/>
              <a:t>MinMaxScaler</a:t>
            </a:r>
            <a:r>
              <a:rPr lang="en-GB" sz="2400" dirty="0"/>
              <a:t>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66164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C509-E567-43CC-A397-7D0D0A92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StandardScaler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7682-0E19-4E96-9DD7-B238A93D8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 err="1">
                <a:solidFill>
                  <a:srgbClr val="0070C0"/>
                </a:solidFill>
              </a:rPr>
              <a:t>StandardScaler</a:t>
            </a:r>
            <a:r>
              <a:rPr lang="en-GB" sz="2400" b="1" dirty="0">
                <a:solidFill>
                  <a:srgbClr val="0070C0"/>
                </a:solidFill>
              </a:rPr>
              <a:t>(*, copy=True, </a:t>
            </a:r>
            <a:r>
              <a:rPr lang="en-GB" sz="2400" b="1" dirty="0" err="1">
                <a:solidFill>
                  <a:srgbClr val="0070C0"/>
                </a:solidFill>
              </a:rPr>
              <a:t>with_mean</a:t>
            </a:r>
            <a:r>
              <a:rPr lang="en-GB" sz="2400" b="1" dirty="0">
                <a:solidFill>
                  <a:srgbClr val="0070C0"/>
                </a:solidFill>
              </a:rPr>
              <a:t>=True, </a:t>
            </a:r>
            <a:r>
              <a:rPr lang="en-GB" sz="2400" b="1" dirty="0" err="1">
                <a:solidFill>
                  <a:srgbClr val="0070C0"/>
                </a:solidFill>
              </a:rPr>
              <a:t>with_std</a:t>
            </a:r>
            <a:r>
              <a:rPr lang="en-GB" sz="2400" b="1" dirty="0">
                <a:solidFill>
                  <a:srgbClr val="0070C0"/>
                </a:solidFill>
              </a:rPr>
              <a:t>=True)</a:t>
            </a:r>
          </a:p>
          <a:p>
            <a:endParaRPr lang="en-GB" sz="2800" dirty="0"/>
          </a:p>
          <a:p>
            <a:r>
              <a:rPr lang="en-GB" sz="2400" dirty="0"/>
              <a:t>For each value x in a column:</a:t>
            </a:r>
          </a:p>
          <a:p>
            <a:pPr marL="457200" lvl="1" indent="0">
              <a:buNone/>
            </a:pPr>
            <a:r>
              <a:rPr lang="en-GB" sz="2400" b="1" dirty="0">
                <a:solidFill>
                  <a:srgbClr val="0070C0"/>
                </a:solidFill>
              </a:rPr>
              <a:t>z = (x - u) / s</a:t>
            </a:r>
          </a:p>
          <a:p>
            <a:pPr marL="400050" lvl="1" indent="0">
              <a:buNone/>
            </a:pPr>
            <a:r>
              <a:rPr lang="en-GB" sz="2400" dirty="0"/>
              <a:t>where </a:t>
            </a:r>
            <a:r>
              <a:rPr lang="en-GB" sz="2400" b="1" dirty="0"/>
              <a:t>u</a:t>
            </a:r>
            <a:r>
              <a:rPr lang="en-GB" sz="2400" dirty="0"/>
              <a:t> is the </a:t>
            </a:r>
            <a:r>
              <a:rPr lang="en-GB" sz="2400" b="1" dirty="0"/>
              <a:t>mean</a:t>
            </a:r>
            <a:r>
              <a:rPr lang="en-GB" sz="2400" dirty="0"/>
              <a:t> of the column or </a:t>
            </a:r>
            <a:r>
              <a:rPr lang="en-GB" sz="2400" b="1" dirty="0"/>
              <a:t>0</a:t>
            </a:r>
            <a:r>
              <a:rPr lang="en-GB" sz="2400" dirty="0"/>
              <a:t> if </a:t>
            </a:r>
            <a:r>
              <a:rPr lang="en-GB" sz="2400" dirty="0" err="1"/>
              <a:t>with_mean</a:t>
            </a:r>
            <a:r>
              <a:rPr lang="en-GB" sz="2400" dirty="0"/>
              <a:t>=False, and </a:t>
            </a:r>
            <a:r>
              <a:rPr lang="en-GB" sz="2400" b="1" dirty="0"/>
              <a:t>s</a:t>
            </a:r>
            <a:r>
              <a:rPr lang="en-GB" sz="2400" dirty="0"/>
              <a:t> is the </a:t>
            </a:r>
            <a:r>
              <a:rPr lang="en-GB" sz="2400" b="1" dirty="0"/>
              <a:t>standard deviation</a:t>
            </a:r>
            <a:r>
              <a:rPr lang="en-GB" sz="2400" dirty="0"/>
              <a:t> of the column or </a:t>
            </a:r>
            <a:r>
              <a:rPr lang="en-GB" sz="2400" b="1" dirty="0"/>
              <a:t>1</a:t>
            </a:r>
            <a:r>
              <a:rPr lang="en-GB" sz="2400" dirty="0"/>
              <a:t> if </a:t>
            </a:r>
            <a:r>
              <a:rPr lang="en-GB" sz="2400" dirty="0" err="1"/>
              <a:t>with_std</a:t>
            </a:r>
            <a:r>
              <a:rPr lang="en-GB" sz="2400" dirty="0"/>
              <a:t>=False.</a:t>
            </a:r>
          </a:p>
          <a:p>
            <a:pPr marL="457200" indent="-457200"/>
            <a:endParaRPr lang="en-GB" sz="2400" b="0" i="0" dirty="0">
              <a:solidFill>
                <a:srgbClr val="292929"/>
              </a:solidFill>
              <a:effectLst/>
              <a:latin typeface="charter"/>
            </a:endParaRPr>
          </a:p>
          <a:p>
            <a:pPr marL="457200" indent="-457200"/>
            <a:r>
              <a:rPr lang="en-GB" sz="2400" b="0" i="0" dirty="0" err="1">
                <a:solidFill>
                  <a:srgbClr val="292929"/>
                </a:solidFill>
                <a:effectLst/>
                <a:latin typeface="charter"/>
              </a:rPr>
              <a:t>StandardScaler</a:t>
            </a:r>
            <a:r>
              <a:rPr lang="en-GB" sz="2400" b="0" i="0" dirty="0">
                <a:solidFill>
                  <a:srgbClr val="292929"/>
                </a:solidFill>
                <a:effectLst/>
                <a:latin typeface="charter"/>
              </a:rPr>
              <a:t> results in a distribution with a standard deviation equal to 1 and a mean approximately 0.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2626545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E1EC-CCCE-4019-A22E-B2B4F9BA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Normalizer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71259-C55D-4173-AD59-93F7BE20B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200" b="1" dirty="0">
                <a:solidFill>
                  <a:srgbClr val="0070C0"/>
                </a:solidFill>
              </a:rPr>
              <a:t>Normalizer(norm='l2', *, copy=True)</a:t>
            </a:r>
          </a:p>
          <a:p>
            <a:endParaRPr lang="en-GB" sz="3600" dirty="0"/>
          </a:p>
          <a:p>
            <a:r>
              <a:rPr lang="en-IE" dirty="0"/>
              <a:t>Applied to rows, not columns!</a:t>
            </a:r>
          </a:p>
          <a:p>
            <a:r>
              <a:rPr lang="en-GB" dirty="0"/>
              <a:t>Each row of the dataset with at least one non zero component is rescaled independently of other rows so that its norm (L1, L2 or </a:t>
            </a:r>
            <a:r>
              <a:rPr lang="en-GB" dirty="0" err="1"/>
              <a:t>L</a:t>
            </a:r>
            <a:r>
              <a:rPr lang="en-GB" baseline="30000" dirty="0" err="1"/>
              <a:t>inf</a:t>
            </a:r>
            <a:r>
              <a:rPr lang="en-GB" dirty="0"/>
              <a:t>) equals one.</a:t>
            </a:r>
          </a:p>
          <a:p>
            <a:pPr lvl="1"/>
            <a:r>
              <a:rPr lang="en-GB" dirty="0"/>
              <a:t>The L1 norm is the sum of the absolute values of all values in the row. </a:t>
            </a:r>
          </a:p>
          <a:p>
            <a:pPr lvl="1"/>
            <a:r>
              <a:rPr lang="en-GB" dirty="0"/>
              <a:t>The L2 norm is the square root of the sum of the squared values in the row. </a:t>
            </a:r>
          </a:p>
          <a:p>
            <a:pPr lvl="1"/>
            <a:r>
              <a:rPr lang="en-GB" dirty="0"/>
              <a:t>The </a:t>
            </a:r>
            <a:r>
              <a:rPr lang="en-GB" dirty="0" err="1"/>
              <a:t>L</a:t>
            </a:r>
            <a:r>
              <a:rPr lang="en-GB" baseline="30000" dirty="0" err="1"/>
              <a:t>inf</a:t>
            </a:r>
            <a:r>
              <a:rPr lang="en-GB" dirty="0"/>
              <a:t> also know as max norm is equal to the maximum absolute value in the row.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82379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A65F-6A17-4E1A-BBFD-51BB894B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316-7A24-4215-874F-45E80B72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In the case of having outliers do you apply both a scaler and log transformation or both and in which order?</a:t>
            </a:r>
          </a:p>
        </p:txBody>
      </p:sp>
    </p:spTree>
    <p:extLst>
      <p:ext uri="{BB962C8B-B14F-4D97-AF65-F5344CB8AC3E}">
        <p14:creationId xmlns:p14="http://schemas.microsoft.com/office/powerpoint/2010/main" val="4257539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D9E2D-5C15-4AD7-99EC-2BDB498D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New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07D38-AFCC-4622-901E-0257B7E48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Create/extract new features from the existing ones.</a:t>
            </a:r>
          </a:p>
          <a:p>
            <a:r>
              <a:rPr lang="en-GB" dirty="0"/>
              <a:t>The encoding techniques considered above do this.</a:t>
            </a:r>
          </a:p>
          <a:p>
            <a:r>
              <a:rPr lang="en-GB" dirty="0"/>
              <a:t>Other techniques can be used to construct features from existing ones.</a:t>
            </a:r>
          </a:p>
          <a:p>
            <a:pPr lvl="1"/>
            <a:r>
              <a:rPr lang="en-GB"/>
              <a:t>Domain dependent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089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3838</TotalTime>
  <Words>960</Words>
  <Application>Microsoft Office PowerPoint</Application>
  <PresentationFormat>On-screen Show (4:3)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charter</vt:lpstr>
      <vt:lpstr>Office Theme</vt:lpstr>
      <vt:lpstr>Data Analytics</vt:lpstr>
      <vt:lpstr>Data Preparation</vt:lpstr>
      <vt:lpstr>Data Preparation</vt:lpstr>
      <vt:lpstr>Missing Values in Numerical Columns</vt:lpstr>
      <vt:lpstr>Types of Missing Values (Rubin, 1976)</vt:lpstr>
      <vt:lpstr>Types of Missing Values (Rubin, 1976)</vt:lpstr>
      <vt:lpstr>Treating Missing Values</vt:lpstr>
      <vt:lpstr>Treating Missing Values</vt:lpstr>
      <vt:lpstr>Handling Outliers</vt:lpstr>
      <vt:lpstr>Encoding of Categorical Attributes</vt:lpstr>
      <vt:lpstr>Encoding of Cyclical Data</vt:lpstr>
      <vt:lpstr>Rescale Features and Normalization</vt:lpstr>
      <vt:lpstr>MinMaxScaler</vt:lpstr>
      <vt:lpstr>RobustScaler</vt:lpstr>
      <vt:lpstr>StandardScaler</vt:lpstr>
      <vt:lpstr>Normalizer</vt:lpstr>
      <vt:lpstr>Question</vt:lpstr>
      <vt:lpstr>Create New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CS4055  Data Mining and Data Warehousing</dc:title>
  <dc:creator>Nik</dc:creator>
  <cp:lastModifiedBy>Nikola.Nikolov</cp:lastModifiedBy>
  <cp:revision>95</cp:revision>
  <dcterms:created xsi:type="dcterms:W3CDTF">2011-08-11T10:12:44Z</dcterms:created>
  <dcterms:modified xsi:type="dcterms:W3CDTF">2026-01-18T13:25:06Z</dcterms:modified>
</cp:coreProperties>
</file>